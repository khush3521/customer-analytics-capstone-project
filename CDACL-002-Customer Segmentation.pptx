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91" r:id="rId5"/>
  </p:sldMasterIdLst>
  <p:notesMasterIdLst>
    <p:notesMasterId r:id="rId34"/>
  </p:notesMasterIdLst>
  <p:handoutMasterIdLst>
    <p:handoutMasterId r:id="rId35"/>
  </p:handoutMasterIdLst>
  <p:sldIdLst>
    <p:sldId id="324" r:id="rId6"/>
    <p:sldId id="302" r:id="rId7"/>
    <p:sldId id="315" r:id="rId8"/>
    <p:sldId id="294" r:id="rId9"/>
    <p:sldId id="337" r:id="rId10"/>
    <p:sldId id="327" r:id="rId11"/>
    <p:sldId id="328" r:id="rId12"/>
    <p:sldId id="329" r:id="rId13"/>
    <p:sldId id="331" r:id="rId14"/>
    <p:sldId id="330" r:id="rId15"/>
    <p:sldId id="332" r:id="rId16"/>
    <p:sldId id="333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34" r:id="rId32"/>
    <p:sldId id="33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2/25/2026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26541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10328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38254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449673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215045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5704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70094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941575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789660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39154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506748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529258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106890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19698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005878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362194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83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791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366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2/25/2026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DD76FF4-6573-36F5-2C86-26B68517984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2/25/2026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546594-7791-315A-EC33-AC780C210E99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4F4F4D4-8F3A-6299-1802-27BC9595DA03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65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-1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3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1"/>
            <a:ext cx="4317711" cy="2273286"/>
          </a:xfrm>
        </p:spPr>
        <p:txBody>
          <a:bodyPr/>
          <a:lstStyle/>
          <a:p>
            <a:r>
              <a:rPr lang="en-IN" dirty="0">
                <a:solidFill>
                  <a:srgbClr val="FFFF00"/>
                </a:solidFill>
              </a:rPr>
              <a:t>CDACL-002-Customer Segmentation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3073" y="5017905"/>
            <a:ext cx="3222836" cy="1168530"/>
          </a:xfrm>
        </p:spPr>
        <p:txBody>
          <a:bodyPr/>
          <a:lstStyle/>
          <a:p>
            <a:r>
              <a:rPr lang="en-US" dirty="0"/>
              <a:t>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Khush Panchal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Data </a:t>
            </a:r>
            <a:r>
              <a:rPr lang="en-IN" sz="2800" b="1" dirty="0">
                <a:solidFill>
                  <a:srgbClr val="FF0000"/>
                </a:solidFill>
              </a:rPr>
              <a:t>Analyst 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close up of building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351" r="15351"/>
          <a:stretch>
            <a:fillRect/>
          </a:stretch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830" y="1636209"/>
            <a:ext cx="5317613" cy="4725261"/>
          </a:xfrm>
        </p:spPr>
        <p:txBody>
          <a:bodyPr/>
          <a:lstStyle/>
          <a:p>
            <a:r>
              <a:rPr lang="en-IN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 Objective</a:t>
            </a:r>
          </a:p>
          <a:p>
            <a:r>
              <a:rPr lang="en-IN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Dataset Overview</a:t>
            </a:r>
          </a:p>
          <a:p>
            <a:r>
              <a:rPr lang="en-IN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Cleaning &amp; Preparation</a:t>
            </a:r>
          </a:p>
          <a:p>
            <a:r>
              <a:rPr lang="en-IN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Exploratory Data Analysis (EDA)</a:t>
            </a:r>
          </a:p>
          <a:p>
            <a:r>
              <a:rPr lang="en-IN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Discount Strategy Analysis</a:t>
            </a:r>
          </a:p>
          <a:p>
            <a:r>
              <a:rPr lang="en-IN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Customer Segmentation (Clustering)</a:t>
            </a:r>
          </a:p>
          <a:p>
            <a:r>
              <a:rPr lang="en-IN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Marketing Strategy Recommendations</a:t>
            </a:r>
          </a:p>
          <a:p>
            <a:r>
              <a:rPr lang="en-IN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Final Business Recommendations</a:t>
            </a:r>
            <a:endParaRPr lang="en-US" b="1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2044700"/>
            <a:ext cx="5337277" cy="35607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The objective of this project is to analyze customer purchase behavior, identify optimal discount strategies, and segment customers into meaningful groups for targeted marketing.</a:t>
            </a:r>
          </a:p>
        </p:txBody>
      </p:sp>
      <p:pic>
        <p:nvPicPr>
          <p:cNvPr id="4" name="Picture Placeholder 3" descr="close up of building">
            <a:extLst>
              <a:ext uri="{FF2B5EF4-FFF2-40B4-BE49-F238E27FC236}">
                <a16:creationId xmlns:a16="http://schemas.microsoft.com/office/drawing/2014/main" id="{5EAB7860-C105-46A8-8B51-C886DCFAB5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2544" r="22544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5435600" cy="830997"/>
          </a:xfrm>
        </p:spPr>
        <p:txBody>
          <a:bodyPr/>
          <a:lstStyle/>
          <a:p>
            <a:r>
              <a:rPr 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Project </a:t>
            </a:r>
            <a:r>
              <a:rPr lang="en-I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Overview </a:t>
            </a:r>
            <a:endParaRPr lang="en-US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IN" dirty="0">
                <a:ln/>
                <a:solidFill>
                  <a:schemeClr val="accent4"/>
                </a:solidFill>
              </a:rPr>
              <a:t>Dataset Overview</a:t>
            </a:r>
            <a:endParaRPr lang="en-US" dirty="0">
              <a:ln/>
              <a:solidFill>
                <a:schemeClr val="accent4"/>
              </a:solidFill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090939B1-FB79-7B65-9AA8-D314689C7F2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00704" y="3139836"/>
            <a:ext cx="364776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Total Records: 3900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Total Features: 19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No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Variables: Age, Category, Season, Payment Method, etc.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1CADDE-5322-2D8A-39CA-00CA7F2DA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473" y="1764790"/>
            <a:ext cx="3829584" cy="121937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FAF49F-028D-56C7-1334-B9948FBB8EA8}"/>
              </a:ext>
            </a:extLst>
          </p:cNvPr>
          <p:cNvSpPr txBox="1"/>
          <p:nvPr/>
        </p:nvSpPr>
        <p:spPr>
          <a:xfrm>
            <a:off x="3559277" y="1848465"/>
            <a:ext cx="52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12B36E-D824-C640-6516-C232FE59C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761" y="2217797"/>
            <a:ext cx="3497738" cy="370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A00D45-603C-066E-C888-D321BE66CE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7929" y="2127882"/>
            <a:ext cx="4058265" cy="2994724"/>
          </a:xfrm>
        </p:spPr>
        <p:txBody>
          <a:bodyPr/>
          <a:lstStyle/>
          <a:p>
            <a:r>
              <a:rPr lang="en-US" b="1" dirty="0"/>
              <a:t>Dataset Details</a:t>
            </a:r>
          </a:p>
          <a:p>
            <a:r>
              <a:rPr lang="en-US" dirty="0"/>
              <a:t>Dataset Name: Customer Shopping Trends Dataset</a:t>
            </a:r>
          </a:p>
          <a:p>
            <a:r>
              <a:rPr lang="en-US" dirty="0"/>
              <a:t>Total Records: 3,900</a:t>
            </a:r>
          </a:p>
          <a:p>
            <a:r>
              <a:rPr lang="en-US" dirty="0"/>
              <a:t>Total Features: 19</a:t>
            </a:r>
          </a:p>
          <a:p>
            <a:r>
              <a:rPr lang="en-US" dirty="0"/>
              <a:t>Data Type: Structured (Tabular Data)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C776B2-18BD-997D-1FC0-73F1BCF7C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Datasets &amp; Tools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56B49-2184-4252-1156-6A2915EDFBF7}"/>
              </a:ext>
            </a:extLst>
          </p:cNvPr>
          <p:cNvSpPr txBox="1"/>
          <p:nvPr/>
        </p:nvSpPr>
        <p:spPr>
          <a:xfrm>
            <a:off x="5102942" y="2035277"/>
            <a:ext cx="405826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Tools &amp; Technologies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Programming &amp; Analysis</a:t>
            </a:r>
          </a:p>
          <a:p>
            <a:r>
              <a:rPr lang="en-IN" dirty="0"/>
              <a:t>Python</a:t>
            </a:r>
          </a:p>
          <a:p>
            <a:r>
              <a:rPr lang="en-IN" dirty="0"/>
              <a:t>Pandas (Data Manipulation)</a:t>
            </a:r>
          </a:p>
          <a:p>
            <a:r>
              <a:rPr lang="en-IN" dirty="0"/>
              <a:t>NumPy (Numerical Analysis)</a:t>
            </a:r>
          </a:p>
          <a:p>
            <a:r>
              <a:rPr lang="en-IN" dirty="0"/>
              <a:t>Matplotlib (Visualization)</a:t>
            </a:r>
          </a:p>
          <a:p>
            <a:r>
              <a:rPr lang="en-IN" dirty="0"/>
              <a:t>Scikit-Learn (K-Means Clustering)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Database</a:t>
            </a:r>
          </a:p>
          <a:p>
            <a:r>
              <a:rPr lang="en-IN" dirty="0"/>
              <a:t>MySQL Workbench (Data Extraction)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Visualization &amp; Reporting</a:t>
            </a:r>
          </a:p>
          <a:p>
            <a:r>
              <a:rPr lang="en-IN" b="1" dirty="0"/>
              <a:t>Power BI </a:t>
            </a:r>
          </a:p>
          <a:p>
            <a:r>
              <a:rPr lang="en-IN" dirty="0"/>
              <a:t>PowerPoint (Presentation &amp; Reporting)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231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211221-8AAA-D4F3-8EA2-FB8DEBDEEE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058" y="5597850"/>
            <a:ext cx="10515600" cy="62515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Clothing and Accessories generate the highest revenue, while Sports and Electronics show relatively lower revenue contribution.</a:t>
            </a:r>
            <a:endParaRPr lang="en-IN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DBAD0B-A6E3-957F-1105-374E418A7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Category Wise Sales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83C337-E4CF-35D1-1DC0-8280F6F23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13" y="1987638"/>
            <a:ext cx="9735909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88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EBD1FF-7E1A-7469-56D1-748D57D08E1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191629" y="1007551"/>
            <a:ext cx="5429334" cy="41148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26F9D3-F3B6-5EC2-0015-C28B4A3D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548"/>
            <a:ext cx="10515600" cy="700115"/>
          </a:xfrm>
        </p:spPr>
        <p:txBody>
          <a:bodyPr>
            <a:normAutofit fontScale="90000"/>
          </a:bodyPr>
          <a:lstStyle/>
          <a:p>
            <a:r>
              <a:rPr lang="en-IN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Discount Penetration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02FD9-7ED4-F598-F57C-0640CF3B0923}"/>
              </a:ext>
            </a:extLst>
          </p:cNvPr>
          <p:cNvSpPr txBox="1"/>
          <p:nvPr/>
        </p:nvSpPr>
        <p:spPr>
          <a:xfrm>
            <a:off x="838200" y="5555226"/>
            <a:ext cx="8994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Electronics and Sports categories have lower discount penetration, presenting an opportunity for promotional campaigns.</a:t>
            </a:r>
            <a:endParaRPr lang="en-IN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11295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B1310C-D1FC-83BE-0539-011E751685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10381" y="5522885"/>
            <a:ext cx="10515600" cy="700115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Customers aged 36–50 demonstrate the highest average spending, indicating strong purchasing power in this segment.</a:t>
            </a:r>
            <a:endParaRPr lang="en-IN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5C4F68-8958-AE38-6F5D-CEAF81126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942"/>
            <a:ext cx="10515600" cy="700115"/>
          </a:xfrm>
        </p:spPr>
        <p:txBody>
          <a:bodyPr>
            <a:normAutofit fontScale="90000"/>
          </a:bodyPr>
          <a:lstStyle/>
          <a:p>
            <a:r>
              <a:rPr lang="en-IN" b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Age Group Spending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10920E-6245-EB7E-DA7E-437D25070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03" y="1382549"/>
            <a:ext cx="5115078" cy="2520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7C52C1-56F0-138D-04BA-3E7B88FE3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136" y="1382549"/>
            <a:ext cx="3972232" cy="387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915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A6D8A4-45B7-71C4-3BF9-F7B3D22EAE1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838200" y="1589592"/>
            <a:ext cx="7030431" cy="302937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5BC4C61-5129-A648-F113-3AD11448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Season Impact</a:t>
            </a:r>
          </a:p>
        </p:txBody>
      </p:sp>
    </p:spTree>
    <p:extLst>
      <p:ext uri="{BB962C8B-B14F-4D97-AF65-F5344CB8AC3E}">
        <p14:creationId xmlns:p14="http://schemas.microsoft.com/office/powerpoint/2010/main" val="337522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AC62E5-93F4-5544-DCB1-EA990ACC59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2226" y="5522885"/>
            <a:ext cx="10515600" cy="700115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K-Means clustering was applied using Age, Purchase Amount, Previous Purchases, and Review Rating to identify customer segments.</a:t>
            </a:r>
            <a:endParaRPr lang="en-IN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95B670-64F0-7B53-1364-FEA9ACF30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IN" dirty="0">
                <a:ln/>
                <a:solidFill>
                  <a:schemeClr val="accent3"/>
                </a:solidFill>
              </a:rPr>
              <a:t>Clustering Methodology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842E8-AEAA-439A-C55D-D2F42D879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75" y="1335115"/>
            <a:ext cx="6580474" cy="401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46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76F441-C194-61E9-762E-7053E836458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35974" y="1431168"/>
            <a:ext cx="7159565" cy="351445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9440655-D6C0-0CDF-68E4-E857D9918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Cluster Profiles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AC66B1-1C87-6DB5-DA9B-B7CF4501E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135" y="2077135"/>
            <a:ext cx="3768628" cy="222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15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598DAC-7E72-9DEF-FFE2-C792F441D1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18769" y="924232"/>
            <a:ext cx="3999270" cy="4365523"/>
          </a:xfrm>
        </p:spPr>
        <p:txBody>
          <a:bodyPr>
            <a:normAutofit fontScale="92500"/>
          </a:bodyPr>
          <a:lstStyle/>
          <a:p>
            <a:r>
              <a:rPr lang="en-US" sz="1400" b="1" dirty="0"/>
              <a:t>Cluster 0 – High Value Customers</a:t>
            </a:r>
          </a:p>
          <a:p>
            <a:r>
              <a:rPr lang="en-US" sz="1400" b="1" dirty="0"/>
              <a:t>(Highest Purchase Amount + Highest Previous Purchases)</a:t>
            </a:r>
            <a:endParaRPr lang="en-US" sz="1400" dirty="0"/>
          </a:p>
          <a:p>
            <a:r>
              <a:rPr lang="en-US" sz="1400" dirty="0"/>
              <a:t>Avg Age: ~40 years</a:t>
            </a:r>
          </a:p>
          <a:p>
            <a:r>
              <a:rPr lang="en-US" sz="1400" dirty="0"/>
              <a:t>Highest Avg Purchase Amount (~271 USD)</a:t>
            </a:r>
          </a:p>
          <a:p>
            <a:r>
              <a:rPr lang="en-US" sz="1400" dirty="0"/>
              <a:t>Highest Previous Purchases (~11 transactions)</a:t>
            </a:r>
          </a:p>
          <a:p>
            <a:r>
              <a:rPr lang="en-US" sz="1400" dirty="0"/>
              <a:t>Moderate review rating</a:t>
            </a:r>
          </a:p>
          <a:p>
            <a:r>
              <a:rPr lang="en-US" sz="1400" b="1" dirty="0"/>
              <a:t>🎯 Business Meaning:</a:t>
            </a:r>
          </a:p>
          <a:p>
            <a:r>
              <a:rPr lang="en-US" sz="1400" dirty="0"/>
              <a:t>This segment represents loyal and high-spending customers.</a:t>
            </a:r>
          </a:p>
          <a:p>
            <a:r>
              <a:rPr lang="en-US" sz="1400" b="1" dirty="0"/>
              <a:t>💡 Strategy:</a:t>
            </a:r>
          </a:p>
          <a:p>
            <a:r>
              <a:rPr lang="en-US" sz="1400" dirty="0"/>
              <a:t>Loyalty programs</a:t>
            </a:r>
          </a:p>
          <a:p>
            <a:r>
              <a:rPr lang="en-US" sz="1400" dirty="0"/>
              <a:t>Exclusive premium offers</a:t>
            </a:r>
          </a:p>
          <a:p>
            <a:r>
              <a:rPr lang="en-US" sz="1400" dirty="0"/>
              <a:t>Early access to new products</a:t>
            </a:r>
          </a:p>
          <a:p>
            <a:endParaRPr lang="en-IN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5D16F2-C8E9-B483-93E6-D208851D0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7" y="352983"/>
            <a:ext cx="10515600" cy="700115"/>
          </a:xfrm>
        </p:spPr>
        <p:txBody>
          <a:bodyPr>
            <a:normAutofit fontScale="90000"/>
          </a:bodyPr>
          <a:lstStyle/>
          <a:p>
            <a:r>
              <a:rPr lang="en-IN" sz="44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Customer Cluster Profiles</a:t>
            </a:r>
            <a:br>
              <a:rPr lang="en-IN" sz="44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</a:br>
            <a:endParaRPr lang="en-IN" sz="4400" dirty="0">
              <a:solidFill>
                <a:schemeClr val="accent2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A743BE-AF3E-1369-65D4-093ED8B19D53}"/>
              </a:ext>
            </a:extLst>
          </p:cNvPr>
          <p:cNvSpPr txBox="1"/>
          <p:nvPr/>
        </p:nvSpPr>
        <p:spPr>
          <a:xfrm>
            <a:off x="4218039" y="912328"/>
            <a:ext cx="3814916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Cluster 1 – Regular Buyers</a:t>
            </a:r>
          </a:p>
          <a:p>
            <a:r>
              <a:rPr lang="en-IN" sz="2000" dirty="0" err="1"/>
              <a:t>Avg</a:t>
            </a:r>
            <a:r>
              <a:rPr lang="en-IN" sz="2000" dirty="0"/>
              <a:t> Age: ~29 years</a:t>
            </a:r>
          </a:p>
          <a:p>
            <a:r>
              <a:rPr lang="en-IN" sz="2000" dirty="0"/>
              <a:t>Medium Purchase Amount (~252 USD)</a:t>
            </a:r>
          </a:p>
          <a:p>
            <a:r>
              <a:rPr lang="en-IN" sz="2000" dirty="0"/>
              <a:t>Low Previous Purchases (~3 transactions)</a:t>
            </a:r>
          </a:p>
          <a:p>
            <a:r>
              <a:rPr lang="en-IN" sz="2000" dirty="0"/>
              <a:t>Moderate review rating</a:t>
            </a:r>
          </a:p>
          <a:p>
            <a:r>
              <a:rPr lang="en-IN" sz="2000" b="1" dirty="0"/>
              <a:t>🎯 Business Meaning:</a:t>
            </a:r>
          </a:p>
          <a:p>
            <a:r>
              <a:rPr lang="en-IN" sz="2000" dirty="0"/>
              <a:t>Young customers with consistent but moderate spending </a:t>
            </a:r>
            <a:r>
              <a:rPr lang="en-IN" sz="2000" dirty="0" err="1"/>
              <a:t>behavior</a:t>
            </a:r>
            <a:r>
              <a:rPr lang="en-IN" sz="2000" dirty="0"/>
              <a:t>.</a:t>
            </a:r>
          </a:p>
          <a:p>
            <a:r>
              <a:rPr lang="en-IN" sz="2000" b="1" dirty="0"/>
              <a:t>💡 Strategy:</a:t>
            </a:r>
          </a:p>
          <a:p>
            <a:r>
              <a:rPr lang="en-IN" sz="2000" dirty="0"/>
              <a:t>Seasonal promotions</a:t>
            </a:r>
          </a:p>
          <a:p>
            <a:r>
              <a:rPr lang="en-IN" sz="2000" dirty="0"/>
              <a:t>Bundle offers</a:t>
            </a:r>
          </a:p>
          <a:p>
            <a:r>
              <a:rPr lang="en-IN" sz="2000" dirty="0"/>
              <a:t>Student/young professional discounts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F2378-083C-7488-BE63-EF68E081A8D1}"/>
              </a:ext>
            </a:extLst>
          </p:cNvPr>
          <p:cNvSpPr txBox="1"/>
          <p:nvPr/>
        </p:nvSpPr>
        <p:spPr>
          <a:xfrm>
            <a:off x="8445910" y="912328"/>
            <a:ext cx="33626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Cluster 2 – Mature Low-Spend Segment</a:t>
            </a:r>
          </a:p>
          <a:p>
            <a:r>
              <a:rPr lang="en-US" dirty="0"/>
              <a:t>Avg Age: ~54 years</a:t>
            </a:r>
          </a:p>
          <a:p>
            <a:r>
              <a:rPr lang="en-US" dirty="0"/>
              <a:t>Lowest Purchase Amount (~240 USD)</a:t>
            </a:r>
          </a:p>
          <a:p>
            <a:r>
              <a:rPr lang="en-US" dirty="0"/>
              <a:t>Moderate previous purchases</a:t>
            </a:r>
          </a:p>
          <a:p>
            <a:r>
              <a:rPr lang="en-US" dirty="0"/>
              <a:t>Slightly higher review rating</a:t>
            </a:r>
          </a:p>
          <a:p>
            <a:r>
              <a:rPr lang="en-US" b="1" dirty="0"/>
              <a:t>🎯 Business Meaning:</a:t>
            </a:r>
          </a:p>
          <a:p>
            <a:r>
              <a:rPr lang="en-US" dirty="0"/>
              <a:t>Older demographic with lower spending intensity.</a:t>
            </a:r>
          </a:p>
          <a:p>
            <a:r>
              <a:rPr lang="en-US" b="1" dirty="0"/>
              <a:t>💡 Strategy:</a:t>
            </a:r>
          </a:p>
          <a:p>
            <a:r>
              <a:rPr lang="en-US" dirty="0"/>
              <a:t>Targeted discount coupons</a:t>
            </a:r>
          </a:p>
          <a:p>
            <a:r>
              <a:rPr lang="en-US" dirty="0"/>
              <a:t>Personalized recommendations</a:t>
            </a:r>
          </a:p>
          <a:p>
            <a:r>
              <a:rPr lang="en-US" dirty="0"/>
              <a:t>Retention campaigns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7B55E-7AF2-2121-8420-5EB9BA6B9788}"/>
              </a:ext>
            </a:extLst>
          </p:cNvPr>
          <p:cNvSpPr txBox="1"/>
          <p:nvPr/>
        </p:nvSpPr>
        <p:spPr>
          <a:xfrm>
            <a:off x="471948" y="5575142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Three distinct customer segments were identified, enabling targeted marketing strategies to maximize revenue and customer retention</a:t>
            </a:r>
            <a:endParaRPr lang="en-IN" sz="20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15046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12DD-080F-FE1C-E7C9-2217620C7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182762"/>
            <a:ext cx="8596668" cy="1320800"/>
          </a:xfrm>
        </p:spPr>
        <p:txBody>
          <a:bodyPr>
            <a:normAutofit/>
          </a:bodyPr>
          <a:lstStyle/>
          <a:p>
            <a:r>
              <a:rPr lang="en-IN" sz="7200" dirty="0">
                <a:solidFill>
                  <a:schemeClr val="accent5"/>
                </a:solidFill>
              </a:rPr>
              <a:t>SQL 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AB3E84-E51D-05AA-674F-316081705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461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BC991-8C75-E438-2ADD-7162B6B8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Category Wise Sales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69D827-76C4-C2CF-C3F6-E89C456F7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496" y="1611575"/>
            <a:ext cx="8596312" cy="20101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04BCA-C023-9F9A-D142-8B216162B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4D1AB0-3A94-03A8-25A8-CF1289B03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046" y="3795446"/>
            <a:ext cx="2751954" cy="261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637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28C6B-F95E-9815-57C1-911FBE11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6F40-0D29-B0D8-6FDF-DD87297F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Discount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166E7-6AF0-5267-D0AD-45F81906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3F5D53CE-EE40-4D97-1A30-3B9005701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40650"/>
            <a:ext cx="7744906" cy="208626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5792208-928F-7F75-8927-806526935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731" y="4305144"/>
            <a:ext cx="3791479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49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E8555-342F-B9E2-AD5C-1F0508B3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21ECC-CCAB-F38E-2867-608D8DE42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9992"/>
            <a:ext cx="8596668" cy="1320800"/>
          </a:xfrm>
        </p:spPr>
        <p:txBody>
          <a:bodyPr/>
          <a:lstStyle/>
          <a:p>
            <a:r>
              <a:rPr lang="en-IN" dirty="0"/>
              <a:t>Age Group Spending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C4759-6EA3-0107-FC17-4F0827DC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6F6F48-B85C-52B4-8783-2C70B28B7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690" y="1444919"/>
            <a:ext cx="8596312" cy="18073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E2B476-CB2D-D88E-3E55-94B2E1EAA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16" y="3423183"/>
            <a:ext cx="4706007" cy="28007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6E7E60-E85C-7AEB-CAD7-EB2C3A1810DF}"/>
              </a:ext>
            </a:extLst>
          </p:cNvPr>
          <p:cNvSpPr txBox="1"/>
          <p:nvPr/>
        </p:nvSpPr>
        <p:spPr>
          <a:xfrm>
            <a:off x="5328176" y="4467181"/>
            <a:ext cx="3598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SQL was used for structured data extraction and preliminary aggregation before advanced analysis in Python.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2968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5F1B-99FA-E2D9-6DF4-87E0994E3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Category Wise Revenue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64D85C-21BE-24E9-2935-DD5A4A67D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043" y="1328157"/>
            <a:ext cx="8596312" cy="17718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65E3D-3939-A037-C7D8-7072FEB5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ACE981-22FD-FF3F-E078-E6EA10961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338" y="3535901"/>
            <a:ext cx="3496163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77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2D44-B5D2-6472-22D7-D2169160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Discount Impact on Spending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7DE400-F5E6-66F4-D327-1FDFC7F2B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044" y="1457056"/>
            <a:ext cx="8596312" cy="19719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72938-68C0-7304-7FC8-76D9566C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EA2FA4-479E-3A27-E57E-7C986FD99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217" y="4061676"/>
            <a:ext cx="3982006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08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B07FA-C53F-2B2F-EC6F-40905251D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 Group Spending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A791C96-6113-9A3C-E16C-CA49AC2E3F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721" y="1392091"/>
            <a:ext cx="7876202" cy="23765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CE94C-2EF4-434D-4E01-DDB8380B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54C92A-BE3A-38B8-0E25-CAB294A94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372" y="4150121"/>
            <a:ext cx="3045628" cy="239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68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641DE-948F-F657-F66C-1489E8144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Season Wise Sales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550EB3-06BF-D548-EE18-14AE14027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454555"/>
            <a:ext cx="8596312" cy="25313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EB5AB-0A76-B593-C649-C85567B8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EC45AD-67A7-D5E5-A0C7-40D7E3B1B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31" y="4245996"/>
            <a:ext cx="2924583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45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2435A-CFD4-3AB4-2E4D-602DEE807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5 High Spending Customers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C52B5A-39A8-81D4-1EDA-3152AD01F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861" y="1514815"/>
            <a:ext cx="7821116" cy="210531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614BB-DF29-6F9E-C2E7-3BEFEABD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E33918-A2F4-A4F2-C691-B470AAD50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695" y="4158273"/>
            <a:ext cx="4134427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62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EFD93-63B3-FDDF-6318-FED458B7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592" y="234007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IN" sz="7200" dirty="0">
                <a:solidFill>
                  <a:srgbClr val="FF0000"/>
                </a:solidFill>
              </a:rPr>
              <a:t>Power BI 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A831B3-CC71-4DB8-426E-ED4FE1C29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7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6323A-7035-B31D-AFFB-100351FE1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76" y="244475"/>
            <a:ext cx="8596668" cy="629265"/>
          </a:xfrm>
        </p:spPr>
        <p:txBody>
          <a:bodyPr>
            <a:normAutofit fontScale="90000"/>
          </a:bodyPr>
          <a:lstStyle/>
          <a:p>
            <a:r>
              <a:rPr lang="en-IN" dirty="0"/>
              <a:t>Customer Analytics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4EF9849-D8D6-3B95-FC5A-2A243DF35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676" y="1056916"/>
            <a:ext cx="8675326" cy="485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88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A8ADCF-56BA-E5E4-C64A-3358790CC2C0}"/>
              </a:ext>
            </a:extLst>
          </p:cNvPr>
          <p:cNvSpPr txBox="1"/>
          <p:nvPr/>
        </p:nvSpPr>
        <p:spPr>
          <a:xfrm>
            <a:off x="698090" y="612844"/>
            <a:ext cx="981259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Customer Performance Dashboard – Key Insights</a:t>
            </a:r>
          </a:p>
          <a:p>
            <a:r>
              <a:rPr lang="en-US" b="1" dirty="0"/>
              <a:t>🔹 </a:t>
            </a:r>
            <a:r>
              <a:rPr lang="en-US" b="1" dirty="0">
                <a:solidFill>
                  <a:srgbClr val="7030A0"/>
                </a:solidFill>
              </a:rPr>
              <a:t>Revenue Performance</a:t>
            </a:r>
          </a:p>
          <a:p>
            <a:r>
              <a:rPr lang="en-US" dirty="0"/>
              <a:t>Total Revenue generated: </a:t>
            </a:r>
            <a:r>
              <a:rPr lang="en-US" b="1" dirty="0"/>
              <a:t>$502K</a:t>
            </a:r>
            <a:endParaRPr lang="en-US" dirty="0"/>
          </a:p>
          <a:p>
            <a:r>
              <a:rPr lang="en-US" dirty="0"/>
              <a:t>Strong revenue contribution from </a:t>
            </a:r>
            <a:r>
              <a:rPr lang="en-US" b="1" dirty="0"/>
              <a:t>Home Decor and Clothing</a:t>
            </a:r>
            <a:endParaRPr lang="en-US" dirty="0"/>
          </a:p>
          <a:p>
            <a:r>
              <a:rPr lang="en-US" dirty="0"/>
              <a:t>Revenue distribution across categories is balanced, reducing dependency risk</a:t>
            </a:r>
          </a:p>
          <a:p>
            <a:r>
              <a:rPr lang="en-US" b="1" dirty="0"/>
              <a:t>🔹 Customer Spending Behavior</a:t>
            </a:r>
          </a:p>
          <a:p>
            <a:r>
              <a:rPr lang="en-US" dirty="0"/>
              <a:t>Average purchase value: </a:t>
            </a:r>
            <a:r>
              <a:rPr lang="en-US" b="1" dirty="0"/>
              <a:t>$255</a:t>
            </a:r>
            <a:endParaRPr lang="en-US" dirty="0"/>
          </a:p>
          <a:p>
            <a:r>
              <a:rPr lang="en-US" dirty="0"/>
              <a:t>Highest average spending observed in </a:t>
            </a:r>
            <a:r>
              <a:rPr lang="en-US" b="1" dirty="0"/>
              <a:t>Below 20 and 40s age segments</a:t>
            </a:r>
            <a:endParaRPr lang="en-US" dirty="0"/>
          </a:p>
          <a:p>
            <a:r>
              <a:rPr lang="en-US" dirty="0"/>
              <a:t>Indicates strong spending power in younger and mid-age customers</a:t>
            </a:r>
          </a:p>
          <a:p>
            <a:r>
              <a:rPr lang="en-US" b="1" dirty="0"/>
              <a:t>🔹 Seasonal Trends</a:t>
            </a:r>
          </a:p>
          <a:p>
            <a:r>
              <a:rPr lang="en-US" b="1" dirty="0"/>
              <a:t>Spring season</a:t>
            </a:r>
            <a:r>
              <a:rPr lang="en-US" dirty="0"/>
              <a:t> shows highest revenue ($141K)</a:t>
            </a:r>
          </a:p>
          <a:p>
            <a:r>
              <a:rPr lang="en-US" dirty="0"/>
              <a:t>Winter and Summer show slightly lower but stable demand</a:t>
            </a:r>
          </a:p>
          <a:p>
            <a:r>
              <a:rPr lang="en-US" dirty="0"/>
              <a:t>Business shows healthy seasonal consistency</a:t>
            </a:r>
          </a:p>
          <a:p>
            <a:r>
              <a:rPr lang="en-US" b="1" dirty="0"/>
              <a:t>🔹 Subscription Impact</a:t>
            </a:r>
          </a:p>
          <a:p>
            <a:r>
              <a:rPr lang="en-US" dirty="0"/>
              <a:t>Revenue from non-subscribers slightly higher than subscribers</a:t>
            </a:r>
          </a:p>
          <a:p>
            <a:r>
              <a:rPr lang="en-US" dirty="0"/>
              <a:t>Indicates opportunity to improve subscription conversion strategy</a:t>
            </a:r>
          </a:p>
          <a:p>
            <a:r>
              <a:rPr lang="en-US" b="1" dirty="0"/>
              <a:t>🔹 Discount Impact</a:t>
            </a:r>
          </a:p>
          <a:p>
            <a:r>
              <a:rPr lang="en-US" dirty="0"/>
              <a:t>51% purchases include discount usage</a:t>
            </a:r>
          </a:p>
          <a:p>
            <a:r>
              <a:rPr lang="en-US" dirty="0"/>
              <a:t>Discount dependency is moderate — room to optimize pricing strategy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639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82EC-EF77-2CA0-B67C-6C0E5A871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54" y="156238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Customer Insights &amp; Segmentation – Key Findings</a:t>
            </a:r>
            <a:endParaRPr lang="en-IN" dirty="0">
              <a:solidFill>
                <a:srgbClr val="7030A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1EEA98-ECB9-05D2-A2AB-B175AA336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377698"/>
            <a:ext cx="8596668" cy="484622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1AEA1-0353-FC90-6034-E0CF1FEA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3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6800D-22B3-2743-6F05-6B8BF049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A7380-925D-09CB-15CD-B8F8B8EB87AB}"/>
              </a:ext>
            </a:extLst>
          </p:cNvPr>
          <p:cNvSpPr txBox="1"/>
          <p:nvPr/>
        </p:nvSpPr>
        <p:spPr>
          <a:xfrm>
            <a:off x="314632" y="226142"/>
            <a:ext cx="987158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Customer Insights &amp; Segmentation – Key Findings</a:t>
            </a:r>
          </a:p>
          <a:p>
            <a:r>
              <a:rPr lang="en-US" b="1"/>
              <a:t>🔹 Customer Retention</a:t>
            </a:r>
          </a:p>
          <a:p>
            <a:r>
              <a:rPr lang="en-US"/>
              <a:t>Repeat Customers: </a:t>
            </a:r>
            <a:r>
              <a:rPr lang="en-US" b="1"/>
              <a:t>1702</a:t>
            </a:r>
            <a:endParaRPr lang="en-US"/>
          </a:p>
          <a:p>
            <a:r>
              <a:rPr lang="en-US"/>
              <a:t>Repeat Customer Rate: </a:t>
            </a:r>
            <a:r>
              <a:rPr lang="en-US" b="1"/>
              <a:t>87%</a:t>
            </a:r>
            <a:endParaRPr lang="en-US"/>
          </a:p>
          <a:p>
            <a:r>
              <a:rPr lang="en-US"/>
              <a:t>Strong customer retention observed</a:t>
            </a:r>
          </a:p>
          <a:p>
            <a:r>
              <a:rPr lang="en-US" b="1"/>
              <a:t>🔹 Customer Satisfaction</a:t>
            </a:r>
          </a:p>
          <a:p>
            <a:r>
              <a:rPr lang="en-US"/>
              <a:t>High Rating Customers: </a:t>
            </a:r>
            <a:r>
              <a:rPr lang="en-US" b="1"/>
              <a:t>768</a:t>
            </a:r>
            <a:endParaRPr lang="en-US"/>
          </a:p>
          <a:p>
            <a:r>
              <a:rPr lang="en-US"/>
              <a:t>High Rating Percentage: </a:t>
            </a:r>
            <a:r>
              <a:rPr lang="en-US" b="1"/>
              <a:t>39%</a:t>
            </a:r>
            <a:endParaRPr lang="en-US"/>
          </a:p>
          <a:p>
            <a:r>
              <a:rPr lang="en-US"/>
              <a:t>Majority ratings concentrated between 3–4</a:t>
            </a:r>
          </a:p>
          <a:p>
            <a:r>
              <a:rPr lang="en-US"/>
              <a:t>Opportunity to improve service quality to increase 4–5 ratings</a:t>
            </a:r>
          </a:p>
          <a:p>
            <a:r>
              <a:rPr lang="en-US" b="1"/>
              <a:t>🔹 Purchase Frequency Analysis</a:t>
            </a:r>
          </a:p>
          <a:p>
            <a:r>
              <a:rPr lang="en-US"/>
              <a:t>Weekly customers generate highest revenue ($175K)</a:t>
            </a:r>
          </a:p>
          <a:p>
            <a:r>
              <a:rPr lang="en-US"/>
              <a:t>Monthly customers follow closely</a:t>
            </a:r>
          </a:p>
          <a:p>
            <a:r>
              <a:rPr lang="en-US"/>
              <a:t>Frequent buyers contribute major share of revenue</a:t>
            </a:r>
          </a:p>
          <a:p>
            <a:r>
              <a:rPr lang="en-US" b="1"/>
              <a:t>🔹 Payment Method Preference</a:t>
            </a:r>
          </a:p>
          <a:p>
            <a:r>
              <a:rPr lang="en-US"/>
              <a:t>Credit Card &amp; PayPal generate highest revenue</a:t>
            </a:r>
          </a:p>
          <a:p>
            <a:r>
              <a:rPr lang="en-US"/>
              <a:t>Cash &amp; UPI slightly lower</a:t>
            </a:r>
          </a:p>
          <a:p>
            <a:r>
              <a:rPr lang="en-US"/>
              <a:t>Digital payment adoption is strong</a:t>
            </a:r>
          </a:p>
        </p:txBody>
      </p:sp>
    </p:spTree>
    <p:extLst>
      <p:ext uri="{BB962C8B-B14F-4D97-AF65-F5344CB8AC3E}">
        <p14:creationId xmlns:p14="http://schemas.microsoft.com/office/powerpoint/2010/main" val="3426305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5EC39B-0E7F-4879-4D84-B03846DA83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415845"/>
            <a:ext cx="10515600" cy="4896465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Short-Term Strategies (0–6 Months)</a:t>
            </a:r>
          </a:p>
          <a:p>
            <a:r>
              <a:rPr lang="en-US" b="1" dirty="0"/>
              <a:t>1 Targeted Discount Campaigns</a:t>
            </a:r>
          </a:p>
          <a:p>
            <a:r>
              <a:rPr lang="en-US" dirty="0"/>
              <a:t>Apply strategic discounts in </a:t>
            </a:r>
            <a:r>
              <a:rPr lang="en-US" b="1" dirty="0"/>
              <a:t>Electronics and Sports</a:t>
            </a:r>
            <a:r>
              <a:rPr lang="en-US" dirty="0"/>
              <a:t> categories</a:t>
            </a:r>
          </a:p>
          <a:p>
            <a:r>
              <a:rPr lang="en-US" dirty="0"/>
              <a:t>Use limited-time promo codes to boost demand</a:t>
            </a:r>
          </a:p>
          <a:p>
            <a:r>
              <a:rPr lang="en-US" b="1" dirty="0"/>
              <a:t>2 Segment-Based Promotions</a:t>
            </a:r>
          </a:p>
          <a:p>
            <a:r>
              <a:rPr lang="en-US" dirty="0"/>
              <a:t>Offer loyalty rewards to </a:t>
            </a:r>
            <a:r>
              <a:rPr lang="en-US" b="1" dirty="0"/>
              <a:t>High Value Customers (Cluster 0)</a:t>
            </a:r>
            <a:endParaRPr lang="en-US" dirty="0"/>
          </a:p>
          <a:p>
            <a:r>
              <a:rPr lang="en-US" dirty="0"/>
              <a:t>Provide seasonal offers to Regular Buyers</a:t>
            </a:r>
          </a:p>
          <a:p>
            <a:r>
              <a:rPr lang="en-US" b="1" dirty="0"/>
              <a:t>3 Age-Focused Marketing</a:t>
            </a:r>
          </a:p>
          <a:p>
            <a:r>
              <a:rPr lang="en-US" dirty="0"/>
              <a:t>Target 36–50 age group with premium product campaigns</a:t>
            </a:r>
          </a:p>
          <a:p>
            <a:r>
              <a:rPr lang="en-US" dirty="0"/>
              <a:t>Use digital ads tailored to young (26–35) customers</a:t>
            </a:r>
          </a:p>
          <a:p>
            <a:r>
              <a:rPr lang="en-US" b="1" dirty="0"/>
              <a:t>4 Bundle &amp; Cross-Selling</a:t>
            </a:r>
          </a:p>
          <a:p>
            <a:r>
              <a:rPr lang="en-US" dirty="0"/>
              <a:t>Combine high-performing categories (Clothing + Accessories)</a:t>
            </a:r>
          </a:p>
          <a:p>
            <a:r>
              <a:rPr lang="en-US" dirty="0"/>
              <a:t>Promote combo deals to increase cart value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9A4B17-EF73-D8D5-04D6-FE5654886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C00000"/>
                </a:solidFill>
                <a:highlight>
                  <a:srgbClr val="FFFF00"/>
                </a:highlight>
              </a:rPr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192805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E4DDD-3137-A8FD-3041-9ABF8E8F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87DC5F-3F05-9010-48CD-B8F9EB1FF36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59542" y="980767"/>
            <a:ext cx="10515600" cy="4896465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Long-Term Strategies (6–24 Months)</a:t>
            </a:r>
          </a:p>
          <a:p>
            <a:r>
              <a:rPr lang="en-IN" b="1" dirty="0"/>
              <a:t>1️⃣ Loyalty &amp; Retention Program</a:t>
            </a:r>
          </a:p>
          <a:p>
            <a:r>
              <a:rPr lang="en-IN" dirty="0"/>
              <a:t>Introduce tier-based membership (Silver / Gold / Platinum)</a:t>
            </a:r>
          </a:p>
          <a:p>
            <a:r>
              <a:rPr lang="en-IN" dirty="0"/>
              <a:t>Reward repeat purchases with points system</a:t>
            </a:r>
          </a:p>
          <a:p>
            <a:r>
              <a:rPr lang="en-IN" b="1" dirty="0"/>
              <a:t>2️⃣ Personalized Marketing Engine</a:t>
            </a:r>
          </a:p>
          <a:p>
            <a:r>
              <a:rPr lang="en-IN" dirty="0"/>
              <a:t>Use clustering model for automated targeted campaigns</a:t>
            </a:r>
          </a:p>
          <a:p>
            <a:r>
              <a:rPr lang="en-IN" dirty="0"/>
              <a:t>Send personalized email/SMS offers</a:t>
            </a:r>
          </a:p>
          <a:p>
            <a:r>
              <a:rPr lang="en-IN" b="1" dirty="0"/>
              <a:t>3️⃣ Predictive Analytics Implementation</a:t>
            </a:r>
          </a:p>
          <a:p>
            <a:r>
              <a:rPr lang="en-IN" dirty="0"/>
              <a:t>Implement churn prediction models</a:t>
            </a:r>
          </a:p>
          <a:p>
            <a:r>
              <a:rPr lang="en-IN" dirty="0"/>
              <a:t>Forecast seasonal demand trends</a:t>
            </a:r>
          </a:p>
          <a:p>
            <a:r>
              <a:rPr lang="en-IN" b="1" dirty="0"/>
              <a:t>4️⃣ Data-Driven Pricing Optimization</a:t>
            </a:r>
          </a:p>
          <a:p>
            <a:r>
              <a:rPr lang="en-IN" dirty="0" err="1"/>
              <a:t>Analyze</a:t>
            </a:r>
            <a:r>
              <a:rPr lang="en-IN" dirty="0"/>
              <a:t> discount elasticity</a:t>
            </a:r>
          </a:p>
          <a:p>
            <a:r>
              <a:rPr lang="en-IN" dirty="0"/>
              <a:t>Optimize pricing for low-performing categories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C8389E-F2DC-0F1B-2130-F4E6983C5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104058"/>
            <a:ext cx="10515600" cy="70011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C00000"/>
                </a:solidFill>
                <a:highlight>
                  <a:srgbClr val="FFFF00"/>
                </a:highlight>
              </a:rPr>
              <a:t>Business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CE628F-8D3A-C4BB-3A43-6CF0FF0378AC}"/>
              </a:ext>
            </a:extLst>
          </p:cNvPr>
          <p:cNvSpPr txBox="1"/>
          <p:nvPr/>
        </p:nvSpPr>
        <p:spPr>
          <a:xfrm>
            <a:off x="2792361" y="5877232"/>
            <a:ext cx="8013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By leveraging customer segmentation and data-driven discount optimization, the company can improve revenue growth, enhance customer retention, and strengthen long-term market positioning.</a:t>
            </a:r>
          </a:p>
          <a:p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58831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70</TotalTime>
  <Words>915</Words>
  <Application>Microsoft Office PowerPoint</Application>
  <PresentationFormat>Widescreen</PresentationFormat>
  <Paragraphs>178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Trebuchet MS</vt:lpstr>
      <vt:lpstr>Wingdings</vt:lpstr>
      <vt:lpstr>Wingdings 3</vt:lpstr>
      <vt:lpstr>Office Theme</vt:lpstr>
      <vt:lpstr>Facet</vt:lpstr>
      <vt:lpstr>CDACL-002-Customer Segmentation </vt:lpstr>
      <vt:lpstr>Agenda</vt:lpstr>
      <vt:lpstr>Project Overview </vt:lpstr>
      <vt:lpstr>Dataset Overview</vt:lpstr>
      <vt:lpstr>Datasets &amp; Tools Used</vt:lpstr>
      <vt:lpstr>Category Wise Sales Analysis</vt:lpstr>
      <vt:lpstr>Discount Penetration Analysis</vt:lpstr>
      <vt:lpstr>Age Group Spending Analysis</vt:lpstr>
      <vt:lpstr>Season Impact</vt:lpstr>
      <vt:lpstr>Clustering Methodology</vt:lpstr>
      <vt:lpstr>Cluster Profiles</vt:lpstr>
      <vt:lpstr>Customer Cluster Profiles </vt:lpstr>
      <vt:lpstr>SQL Implementation</vt:lpstr>
      <vt:lpstr> Category Wise Sales</vt:lpstr>
      <vt:lpstr>Discount Distribution</vt:lpstr>
      <vt:lpstr>Age Group Spending</vt:lpstr>
      <vt:lpstr>Category Wise Revenue</vt:lpstr>
      <vt:lpstr>Discount Impact on Spending</vt:lpstr>
      <vt:lpstr>Age Group Spending</vt:lpstr>
      <vt:lpstr>Season Wise Sales</vt:lpstr>
      <vt:lpstr>Top 5 High Spending Customers</vt:lpstr>
      <vt:lpstr>Power BI Implementation</vt:lpstr>
      <vt:lpstr>Customer Analytics </vt:lpstr>
      <vt:lpstr>PowerPoint Presentation</vt:lpstr>
      <vt:lpstr>Customer Insights &amp; Segmentation – Key Findings</vt:lpstr>
      <vt:lpstr>PowerPoint Presentation</vt:lpstr>
      <vt:lpstr>Business Recommendations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 Panchal</dc:creator>
  <cp:lastModifiedBy>khush Panchal</cp:lastModifiedBy>
  <cp:revision>2</cp:revision>
  <dcterms:created xsi:type="dcterms:W3CDTF">2026-02-23T17:52:29Z</dcterms:created>
  <dcterms:modified xsi:type="dcterms:W3CDTF">2026-02-25T10:53:01Z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